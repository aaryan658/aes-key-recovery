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200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331720"/>
            <a:ext cx="1371600" cy="137160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5" name="Image 0" descr="C:\Users\aaary\AppData\Local\Temp\claude\D--Projects-AES-Key-Recovery\b4e7210e-b2e3-49c0-a350-0e4db220f41f\scratchpad\ppt\assets\icons\key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510028"/>
            <a:ext cx="1014984" cy="1014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2331720"/>
            <a:ext cx="1371600" cy="13716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SIDE-CHANNEL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09160" y="19659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KEY RECOVERY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709160" y="2788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Machine Learning on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EM Traces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709160" y="3520440"/>
            <a:ext cx="29260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3749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Poudel &amp; Rahimi (arXiv:2508.11817, 2025) on the ASCAD dataset,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extension milestones: architecture comparison, multi-task learning,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desynchronization robustness.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091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Aaryan  //  Laboratory Project  //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7" name="Image 0" descr="C:\Users\aaary\AppData\Local\Temp\claude\D--Projects-AES-Key-Recovery\b4e7210e-b2e3-49c0-a350-0e4db220f41f\scratchpad\ppt\assets\icons\chi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2201875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7889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Threat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1363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side-channel attack is, and what the attacker sees vs. recovers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13055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14" name="Image 1" descr="C:\Users\aaary\AppData\Local\Temp\claude\D--Projects-AES-Key-Recovery\b4e7210e-b2e3-49c0-a350-0e4db220f41f\scratchpad\ppt\assets\icons\wav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55" y="2201875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9432" y="27889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99432" y="31363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ASCAD electromagnetic traces, labels, and the attack pipeline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Shape 16"/>
          <p:cNvSpPr/>
          <p:nvPr/>
        </p:nvSpPr>
        <p:spPr>
          <a:xfrm>
            <a:off x="8394192" y="213055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21" name="Image 2" descr="C:\Users\aaary\AppData\Local\Temp\claude\D--Projects-AES-Key-Recovery\b4e7210e-b2e3-49c0-a350-0e4db220f41f\scratchpad\ppt\assets\icons\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515" y="2201875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01852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94192" y="27889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Metric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94192" y="31363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accuracy is meaningless here — Key Rank / Guessing Entropy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Shape 22"/>
          <p:cNvSpPr/>
          <p:nvPr/>
        </p:nvSpPr>
        <p:spPr>
          <a:xfrm>
            <a:off x="804672" y="427939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28" name="Image 3" descr="C:\Users\aaary\AppData\Local\Temp\claude\D--Projects-AES-Key-Recovery\b4e7210e-b2e3-49c0-a350-0e4db220f41f\scratchpad\ppt\assets\icons\brain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4350715"/>
            <a:ext cx="405994" cy="40599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42900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04672" y="4937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04672" y="52852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SVM, CNN, ResNet, multi-task ResNet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34340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4340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28"/>
          <p:cNvSpPr/>
          <p:nvPr/>
        </p:nvSpPr>
        <p:spPr>
          <a:xfrm>
            <a:off x="4599432" y="427939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35" name="Image 4" descr="C:\Users\aaary\AppData\Local\Temp\claude\D--Projects-AES-Key-Recovery\b4e7210e-b2e3-49c0-a350-0e4db220f41f\scratchpad\ppt\assets\icons\flas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755" y="4350715"/>
            <a:ext cx="405994" cy="40599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4599432" y="4937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Milestones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599432" y="52852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-&gt; architecture study -&gt; five extension experiments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13816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3816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1" name="Shape 34"/>
          <p:cNvSpPr/>
          <p:nvPr/>
        </p:nvSpPr>
        <p:spPr>
          <a:xfrm>
            <a:off x="8394192" y="4279392"/>
            <a:ext cx="548640" cy="54864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42" name="Image 5" descr="C:\Users\aaary\AppData\Local\Temp\claude\D--Projects-AES-Key-Recovery\b4e7210e-b2e3-49c0-a350-0e4db220f41f\scratchpad\ppt\assets\icons\key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515" y="4350715"/>
            <a:ext cx="405994" cy="40599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101852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8394192" y="4937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8394192" y="52852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byte #2 recovered: 0xE0, correctly, in ~1,360 traces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is unbreakable... on paper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has no known practical mathematical attack.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physical chip leaks information while it computes: power draw and electromagnetic emissions vary with the data being processed. That leakage is a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channel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can be learned by a model.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6" name="Image 0" descr="C:\Users\aaary\AppData\Local\Temp\claude\D--Projects-AES-Key-Recovery\b4e7210e-b2e3-49c0-a350-0e4db220f41f\scratchpad\ppt\assets\icons\chi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4427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3558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target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3639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AVR microcontroller (ATMega8515) running textbook AES-128 encryption.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10" name="Image 1" descr="C:\Users\aaary\AppData\Local\Temp\claude\D--Projects-AES-Key-Recovery\b4e7210e-b2e3-49c0-a350-0e4db220f41f\scratchpad\ppt\assets\icons\wav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31139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leakage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88720" y="4507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emissions captured as a 700-sample trace per encryption.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14" name="Image 2" descr="C:\Users\aaary\AppData\Local\Temp\claude\D--Projects-AES-Key-Recovery\b4e7210e-b2e3-49c0-a350-0e4db220f41f\scratchpad\ppt\assets\icons\ke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18007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093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5376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secret key from traces + known plaintexts — never the key itself.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75120" y="1691640"/>
            <a:ext cx="4937760" cy="4617720"/>
          </a:xfrm>
          <a:prstGeom prst="rect">
            <a:avLst/>
          </a:prstGeom>
          <a:solidFill>
            <a:srgbClr val="0A0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99516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TRACE (SAMPLE)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95160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8588" y="3886200"/>
            <a:ext cx="56057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Shape 16"/>
          <p:cNvSpPr/>
          <p:nvPr/>
        </p:nvSpPr>
        <p:spPr>
          <a:xfrm>
            <a:off x="7182016" y="4023360"/>
            <a:ext cx="56057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275443" y="3611880"/>
            <a:ext cx="56057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368871" y="3154680"/>
            <a:ext cx="56057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Shape 19"/>
          <p:cNvSpPr/>
          <p:nvPr/>
        </p:nvSpPr>
        <p:spPr>
          <a:xfrm>
            <a:off x="7462299" y="3520440"/>
            <a:ext cx="56057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Shape 20"/>
          <p:cNvSpPr/>
          <p:nvPr/>
        </p:nvSpPr>
        <p:spPr>
          <a:xfrm>
            <a:off x="7555727" y="3977640"/>
            <a:ext cx="56057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7649155" y="3794760"/>
            <a:ext cx="56057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Shape 22"/>
          <p:cNvSpPr/>
          <p:nvPr/>
        </p:nvSpPr>
        <p:spPr>
          <a:xfrm>
            <a:off x="7742583" y="2880360"/>
            <a:ext cx="56057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7836010" y="2514600"/>
            <a:ext cx="56057" cy="1828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Shape 24"/>
          <p:cNvSpPr/>
          <p:nvPr/>
        </p:nvSpPr>
        <p:spPr>
          <a:xfrm>
            <a:off x="7929438" y="3337560"/>
            <a:ext cx="56057" cy="1005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Shape 25"/>
          <p:cNvSpPr/>
          <p:nvPr/>
        </p:nvSpPr>
        <p:spPr>
          <a:xfrm>
            <a:off x="8022866" y="3886200"/>
            <a:ext cx="56057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Shape 26"/>
          <p:cNvSpPr/>
          <p:nvPr/>
        </p:nvSpPr>
        <p:spPr>
          <a:xfrm>
            <a:off x="8116294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Shape 27"/>
          <p:cNvSpPr/>
          <p:nvPr/>
        </p:nvSpPr>
        <p:spPr>
          <a:xfrm>
            <a:off x="8209722" y="3703320"/>
            <a:ext cx="56057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Shape 28"/>
          <p:cNvSpPr/>
          <p:nvPr/>
        </p:nvSpPr>
        <p:spPr>
          <a:xfrm>
            <a:off x="8303150" y="3063240"/>
            <a:ext cx="56057" cy="1280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29"/>
          <p:cNvSpPr/>
          <p:nvPr/>
        </p:nvSpPr>
        <p:spPr>
          <a:xfrm>
            <a:off x="8396577" y="2697480"/>
            <a:ext cx="56057" cy="1645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Shape 30"/>
          <p:cNvSpPr/>
          <p:nvPr/>
        </p:nvSpPr>
        <p:spPr>
          <a:xfrm>
            <a:off x="8490005" y="3246120"/>
            <a:ext cx="56057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6" name="Shape 31"/>
          <p:cNvSpPr/>
          <p:nvPr/>
        </p:nvSpPr>
        <p:spPr>
          <a:xfrm>
            <a:off x="8583433" y="3794760"/>
            <a:ext cx="56057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Shape 32"/>
          <p:cNvSpPr/>
          <p:nvPr/>
        </p:nvSpPr>
        <p:spPr>
          <a:xfrm>
            <a:off x="8676861" y="3977640"/>
            <a:ext cx="56057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8" name="Shape 33"/>
          <p:cNvSpPr/>
          <p:nvPr/>
        </p:nvSpPr>
        <p:spPr>
          <a:xfrm>
            <a:off x="8770289" y="3886200"/>
            <a:ext cx="56057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9" name="Shape 34"/>
          <p:cNvSpPr/>
          <p:nvPr/>
        </p:nvSpPr>
        <p:spPr>
          <a:xfrm>
            <a:off x="8863717" y="3520440"/>
            <a:ext cx="56057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0" name="Shape 35"/>
          <p:cNvSpPr/>
          <p:nvPr/>
        </p:nvSpPr>
        <p:spPr>
          <a:xfrm>
            <a:off x="8957144" y="2971800"/>
            <a:ext cx="56057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1" name="Shape 36"/>
          <p:cNvSpPr/>
          <p:nvPr/>
        </p:nvSpPr>
        <p:spPr>
          <a:xfrm>
            <a:off x="9050572" y="2423160"/>
            <a:ext cx="56057" cy="1920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2" name="Shape 37"/>
          <p:cNvSpPr/>
          <p:nvPr/>
        </p:nvSpPr>
        <p:spPr>
          <a:xfrm>
            <a:off x="9144000" y="2788920"/>
            <a:ext cx="56057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Shape 38"/>
          <p:cNvSpPr/>
          <p:nvPr/>
        </p:nvSpPr>
        <p:spPr>
          <a:xfrm>
            <a:off x="9237428" y="3520440"/>
            <a:ext cx="56057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39"/>
          <p:cNvSpPr/>
          <p:nvPr/>
        </p:nvSpPr>
        <p:spPr>
          <a:xfrm>
            <a:off x="9330856" y="3977640"/>
            <a:ext cx="56057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Shape 40"/>
          <p:cNvSpPr/>
          <p:nvPr/>
        </p:nvSpPr>
        <p:spPr>
          <a:xfrm>
            <a:off x="9424283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Shape 41"/>
          <p:cNvSpPr/>
          <p:nvPr/>
        </p:nvSpPr>
        <p:spPr>
          <a:xfrm>
            <a:off x="9517711" y="3794760"/>
            <a:ext cx="56057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Shape 42"/>
          <p:cNvSpPr/>
          <p:nvPr/>
        </p:nvSpPr>
        <p:spPr>
          <a:xfrm>
            <a:off x="9611139" y="3429000"/>
            <a:ext cx="56057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8" name="Shape 43"/>
          <p:cNvSpPr/>
          <p:nvPr/>
        </p:nvSpPr>
        <p:spPr>
          <a:xfrm>
            <a:off x="9704567" y="2880360"/>
            <a:ext cx="56057" cy="1463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9" name="Shape 44"/>
          <p:cNvSpPr/>
          <p:nvPr/>
        </p:nvSpPr>
        <p:spPr>
          <a:xfrm>
            <a:off x="9797995" y="3154680"/>
            <a:ext cx="56057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0" name="Shape 45"/>
          <p:cNvSpPr/>
          <p:nvPr/>
        </p:nvSpPr>
        <p:spPr>
          <a:xfrm>
            <a:off x="9891423" y="3703320"/>
            <a:ext cx="56057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1" name="Shape 46"/>
          <p:cNvSpPr/>
          <p:nvPr/>
        </p:nvSpPr>
        <p:spPr>
          <a:xfrm>
            <a:off x="9984850" y="3977640"/>
            <a:ext cx="56057" cy="365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2" name="Shape 47"/>
          <p:cNvSpPr/>
          <p:nvPr/>
        </p:nvSpPr>
        <p:spPr>
          <a:xfrm>
            <a:off x="10078278" y="3886200"/>
            <a:ext cx="56057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3" name="Shape 48"/>
          <p:cNvSpPr/>
          <p:nvPr/>
        </p:nvSpPr>
        <p:spPr>
          <a:xfrm>
            <a:off x="10171706" y="3611880"/>
            <a:ext cx="56057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4" name="Shape 49"/>
          <p:cNvSpPr/>
          <p:nvPr/>
        </p:nvSpPr>
        <p:spPr>
          <a:xfrm>
            <a:off x="10265134" y="3246120"/>
            <a:ext cx="56057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Shape 50"/>
          <p:cNvSpPr/>
          <p:nvPr/>
        </p:nvSpPr>
        <p:spPr>
          <a:xfrm>
            <a:off x="10358562" y="3794760"/>
            <a:ext cx="56057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6" name="Shape 51"/>
          <p:cNvSpPr/>
          <p:nvPr/>
        </p:nvSpPr>
        <p:spPr>
          <a:xfrm>
            <a:off x="10451990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7" name="Shape 52"/>
          <p:cNvSpPr/>
          <p:nvPr/>
        </p:nvSpPr>
        <p:spPr>
          <a:xfrm>
            <a:off x="10545417" y="3977640"/>
            <a:ext cx="56057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8" name="Shape 53"/>
          <p:cNvSpPr/>
          <p:nvPr/>
        </p:nvSpPr>
        <p:spPr>
          <a:xfrm>
            <a:off x="10638845" y="3703320"/>
            <a:ext cx="56057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9" name="Shape 54"/>
          <p:cNvSpPr/>
          <p:nvPr/>
        </p:nvSpPr>
        <p:spPr>
          <a:xfrm>
            <a:off x="10732273" y="3337560"/>
            <a:ext cx="56057" cy="1005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0" name="Shape 55"/>
          <p:cNvSpPr/>
          <p:nvPr/>
        </p:nvSpPr>
        <p:spPr>
          <a:xfrm>
            <a:off x="10825701" y="3886200"/>
            <a:ext cx="56057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1" name="Shape 56"/>
          <p:cNvSpPr/>
          <p:nvPr/>
        </p:nvSpPr>
        <p:spPr>
          <a:xfrm>
            <a:off x="10919129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Shape 57"/>
          <p:cNvSpPr/>
          <p:nvPr/>
        </p:nvSpPr>
        <p:spPr>
          <a:xfrm>
            <a:off x="11012557" y="3977640"/>
            <a:ext cx="56057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3" name="Shape 58"/>
          <p:cNvSpPr/>
          <p:nvPr/>
        </p:nvSpPr>
        <p:spPr>
          <a:xfrm>
            <a:off x="11105984" y="3794760"/>
            <a:ext cx="56057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4" name="Shape 59"/>
          <p:cNvSpPr/>
          <p:nvPr/>
        </p:nvSpPr>
        <p:spPr>
          <a:xfrm>
            <a:off x="11199412" y="4069080"/>
            <a:ext cx="56057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5" name="Shape 60"/>
          <p:cNvSpPr/>
          <p:nvPr/>
        </p:nvSpPr>
        <p:spPr>
          <a:xfrm>
            <a:off x="6995160" y="4343400"/>
            <a:ext cx="4297680" cy="0"/>
          </a:xfrm>
          <a:prstGeom prst="line">
            <a:avLst/>
          </a:prstGeom>
          <a:noFill/>
          <a:ln w="9525">
            <a:solidFill>
              <a:srgbClr val="0E749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699516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window: leakage of the masked S-box operation for key byte #2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995160" y="5532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~10,000 attack traces  x  700 samples each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6995160" y="5852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dataset: ANSSI / ASCAD (CHES 2018)</a:t>
            </a:r>
            <a:endParaRPr lang="en-US" sz="1050" dirty="0"/>
          </a:p>
        </p:txBody>
      </p:sp>
      <p:sp>
        <p:nvSpPr>
          <p:cNvPr id="69" name="Text 6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attacker has vs. what comes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074920" cy="594360"/>
          </a:xfrm>
          <a:prstGeom prst="rect">
            <a:avLst/>
          </a:prstGeom>
          <a:solidFill>
            <a:srgbClr val="1B253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TO THE ATTACKER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EM power traces (700 samples each)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plaintext of every encryption (public)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ASCAD device's leakage model / trace format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4526280" cy="65836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5262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given: </a:t>
            </a:r>
            <a:pPr indent="0" marL="0">
              <a:buNone/>
            </a:pPr>
            <a:r>
              <a:rPr lang="en-US" sz="130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70448" y="3246120"/>
            <a:ext cx="731520" cy="73152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11" name="Image 0" descr="C:\Users\aaary\AppData\Local\Temp\claude\D--Projects-AES-Key-Recovery\b4e7210e-b2e3-49c0-a350-0e4db220f41f\scratchpad\ppt\assets\icons\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546" y="3341218"/>
            <a:ext cx="541325" cy="5413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0" y="1828800"/>
            <a:ext cx="5074920" cy="3566160"/>
          </a:xfrm>
          <a:prstGeom prst="rect">
            <a:avLst/>
          </a:prstGeom>
          <a:solidFill>
            <a:srgbClr val="0A0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1828800"/>
            <a:ext cx="5074920" cy="594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18288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RECOVERED BY THE MODEL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2743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KEY BYTE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30632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0xE0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6858000" y="4114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byte #2 of 16 — the ASCAD benchmark target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4663440"/>
            <a:ext cx="4526280" cy="0"/>
          </a:xfrm>
          <a:prstGeom prst="line">
            <a:avLst/>
          </a:prstGeom>
          <a:noFill/>
          <a:ln w="9525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48463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pPr indent="0" marL="0">
              <a:buNone/>
            </a:pPr>
            <a:r>
              <a:rPr lang="en-US" sz="13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matches the true device key exactly, using </a:t>
            </a:r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~1,360</a:t>
            </a:r>
            <a:pPr indent="0" marL="0">
              <a:buNone/>
            </a:pPr>
            <a:r>
              <a:rPr lang="en-US" sz="13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attack traces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attack pipeline,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230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7183" y="2377440"/>
            <a:ext cx="585216" cy="585216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6" name="Image 0" descr="C:\Users\aaary\AppData\Local\Temp\claude\D--Projects-AES-Key-Recovery\b4e7210e-b2e3-49c0-a350-0e4db220f41f\scratchpad\ppt\assets\icons\wav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261" y="2453518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traces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547872"/>
            <a:ext cx="1687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profiling + 10k attack traces, 700 samples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10942" y="29718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30982" y="2103120"/>
            <a:ext cx="196230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19526" y="2377440"/>
            <a:ext cx="585216" cy="585216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13" name="Image 1" descr="C:\Users\aaary\AppData\Local\Temp\claude\D--Projects-AES-Key-Recovery\b4e7210e-b2e3-49c0-a350-0e4db220f41f\scratchpad\ppt\assets\icons\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604" y="2453518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8142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68142" y="3154680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68142" y="3547872"/>
            <a:ext cx="1687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(fit on profiling only)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93285" y="29718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113325" y="2103120"/>
            <a:ext cx="196230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1868" y="2377440"/>
            <a:ext cx="585216" cy="585216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20" name="Image 2" descr="C:\Users\aaary\AppData\Local\Temp\claude\D--Projects-AES-Key-Recovery\b4e7210e-b2e3-49c0-a350-0e4db220f41f\scratchpad\ppt\assets\icons\br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946" y="2453518"/>
            <a:ext cx="433060" cy="433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0485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50485" y="3154680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50485" y="3547872"/>
            <a:ext cx="1687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 = Sbox(p XOR k) | trace)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75627" y="29718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95667" y="2103120"/>
            <a:ext cx="196230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84210" y="2377440"/>
            <a:ext cx="585216" cy="585216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27" name="Image 3" descr="C:\Users\aaary\AppData\Local\Temp\claude\D--Projects-AES-Key-Recovery\b4e7210e-b2e3-49c0-a350-0e4db220f41f\scratchpad\ppt\assets\icons\sitem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288" y="2453518"/>
            <a:ext cx="433060" cy="4330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32827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532827" y="3154680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Key-rank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532827" y="3547872"/>
            <a:ext cx="1687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log-likelihood over 256 key guesses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357970" y="29718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78010" y="2103120"/>
            <a:ext cx="1962302" cy="2377440"/>
          </a:xfrm>
          <a:prstGeom prst="rect">
            <a:avLst/>
          </a:prstGeom>
          <a:solidFill>
            <a:srgbClr val="1B2536"/>
          </a:solidFill>
          <a:ln w="12700">
            <a:solidFill>
              <a:srgbClr val="1B25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66553" y="2377440"/>
            <a:ext cx="585216" cy="585216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34" name="Image 4" descr="C:\Users\aaary\AppData\Local\Temp\claude\D--Projects-AES-Key-Recovery\b4e7210e-b2e3-49c0-a350-0e4db220f41f\scratchpad\ppt\assets\icons\key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631" y="2453518"/>
            <a:ext cx="433060" cy="4330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1517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815170" y="3154680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815170" y="3547872"/>
            <a:ext cx="1687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byte reaches rank 0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548640" y="4892040"/>
            <a:ext cx="11091672" cy="12344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9" name="Text 32"/>
          <p:cNvSpPr/>
          <p:nvPr/>
        </p:nvSpPr>
        <p:spPr>
          <a:xfrm>
            <a:off x="868680" y="507492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score(g) = </a:t>
            </a:r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sum_i</a:t>
            </a:r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 P( class = Sbox(plaintext_i XOR g) | trace_i )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868680" y="557784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true key byte among all 256 hypotheses g. Rank 0 = recovered. This is what actually measures attack success — not classification accuracy.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"accuracy" is the wrong scoreboard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on the 256-class problem is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0.4-1%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barely above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1/256 = 0.39%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random-guess floor. A model that looks almost useless can still fully recover the key, because a tiny per-trace bias compounds over thousands of traces.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49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(misleading)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top-1 accuracy — chance is 0.39%. Looks almost random.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0" name="Image 0" descr="C:\Users\aaary\AppData\Local\Temp\claude\D--Projects-AES-Key-Recovery\b4e7210e-b2e3-49c0-a350-0e4db220f41f\scratchpad\ppt\assets\icons\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5277460"/>
            <a:ext cx="372161" cy="3721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523036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selected models on this metric, you'd throw away the one that actually works.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2880360"/>
            <a:ext cx="5349240" cy="3246120"/>
          </a:xfrm>
          <a:prstGeom prst="rect">
            <a:avLst/>
          </a:prstGeom>
          <a:solidFill>
            <a:srgbClr val="0A0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RANK (ground truth)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3520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0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6537960" y="4480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~1,360 attack traces — the true byte is ranked #1 out of 256 hypotheses.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37960" y="5212080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17" name="Image 1" descr="C:\Users\aaary\AppData\Local\Temp\claude\D--Projects-AES-Key-Recovery\b4e7210e-b2e3-49c0-a350-0e4db220f41f\scratchpad\ppt\assets\icons\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5277460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52303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metric used for every model comparison in this project.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UNDER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model families, one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3100"/>
            <a:ext cx="548640" cy="54864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6" name="Image 0" descr="C:\Users\aaary\AppData\Local\Temp\claude\D--Projects-AES-Key-Recovery\b4e7210e-b2e3-49c0-a350-0e4db220f41f\scratchpad\ppt\assets\icons\tre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144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2311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tabular baseline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354312" y="1997964"/>
            <a:ext cx="19659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9354312" y="199796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15768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830068"/>
            <a:ext cx="548640" cy="54864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13" name="Image 1" descr="C:\Users\aaary\AppData\Local\Temp\claude\D--Projects-AES-Key-Recovery\b4e7210e-b2e3-49c0-a350-0e4db220f41f\scratchpad\ppt\assets\icons\bo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" y="2901391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 (PCA-50 + RBF)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3118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subsampled to 10k, O(n^2) cost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354312" y="2884932"/>
            <a:ext cx="19659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3"/>
          <p:cNvSpPr/>
          <p:nvPr/>
        </p:nvSpPr>
        <p:spPr>
          <a:xfrm>
            <a:off x="9354312" y="28849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602736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717036"/>
            <a:ext cx="548640" cy="54864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20" name="Image 2" descr="C:\Users\aaary\AppData\Local\Temp\claude\D--Projects-AES-Key-Recovery\b4e7210e-b2e3-49c0-a350-0e4db220f41f\scratchpad\ppt\assets\icons\br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3788359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 (Zaid, compact)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54480" y="4005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~17k-param 1D conv net, one-cycle LR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354312" y="3771900"/>
            <a:ext cx="1965960" cy="438912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4" name="Text 19"/>
          <p:cNvSpPr/>
          <p:nvPr/>
        </p:nvSpPr>
        <p:spPr>
          <a:xfrm>
            <a:off x="9354312" y="37719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489704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4604004"/>
            <a:ext cx="548640" cy="54864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27" name="Image 3" descr="C:\Users\aaary\AppData\Local\Temp\claude\D--Projects-AES-Key-Recovery\b4e7210e-b2e3-49c0-a350-0e4db220f41f\scratchpad\ppt\assets\icons\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675327"/>
            <a:ext cx="405994" cy="4059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581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 (1D, residual)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55448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deeper, kernel-11 + SELU blocks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354312" y="4658868"/>
            <a:ext cx="1965960" cy="438912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1" name="Text 25"/>
          <p:cNvSpPr/>
          <p:nvPr/>
        </p:nvSpPr>
        <p:spPr>
          <a:xfrm>
            <a:off x="9354312" y="46588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Recovers + robust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5376672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5490972"/>
            <a:ext cx="548640" cy="548640"/>
          </a:xfrm>
          <a:prstGeom prst="ellipse">
            <a:avLst/>
          </a:prstGeom>
          <a:solidFill>
            <a:srgbClr val="EEF6FF"/>
          </a:solidFill>
          <a:ln/>
        </p:spPr>
      </p:sp>
      <p:pic>
        <p:nvPicPr>
          <p:cNvPr id="34" name="Image 4" descr="C:\Users\aaary\AppData\Local\Temp\claude\D--Projects-AES-Key-Recovery\b4e7210e-b2e3-49c0-a350-0e4db220f41f\scratchpad\ppt\assets\icons\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5562295"/>
            <a:ext cx="405994" cy="40599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4480" y="5468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Multi-task ResNet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554480" y="5779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trunk, 3 joint heads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354312" y="5545836"/>
            <a:ext cx="1965960" cy="438912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8" name="Text 31"/>
          <p:cNvSpPr/>
          <p:nvPr/>
        </p:nvSpPr>
        <p:spPr>
          <a:xfrm>
            <a:off x="9354312" y="55458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(fixed-key)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1 -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vs. CNN — the first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aaary\AppData\Local\Temp\claude\D--Projects-AES-Key-Recovery\b4e7210e-b2e3-49c0-a350-0e4db220f41f\scratchpad\ppt\assets\milestone1_keyrank_rf_vs_c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65836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3822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18745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219456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46720" y="283464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accuracy (chance 0.39%)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46720" y="3246120"/>
            <a:ext cx="3364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33375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converges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977640"/>
            <a:ext cx="3822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0" y="41605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 (ZAID, 1D)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448056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046720" y="512064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accuracy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5532120"/>
            <a:ext cx="3364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56235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0 by ~1,360 traces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2 -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 vs. CNN on the harder variable-key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aaary\AppData\Local\Temp\claude\D--Projects-AES-Key-Recovery\b4e7210e-b2e3-49c0-a350-0e4db220f41f\scratchpad\ppt\assets\milestone2_varkey_cnn_vs_resn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65836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3822192" cy="4663440"/>
          </a:xfrm>
          <a:prstGeom prst="rect">
            <a:avLst/>
          </a:prstGeom>
          <a:solidFill>
            <a:srgbClr val="0A0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192024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 TO RANK 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377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variable-key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77272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90779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variable-key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177272" y="2907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343814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fixed-key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77272" y="3438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396849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fixed-key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177272" y="3968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1,362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92440" y="4544568"/>
            <a:ext cx="3273552" cy="0"/>
          </a:xfrm>
          <a:prstGeom prst="line">
            <a:avLst/>
          </a:prstGeom>
          <a:noFill/>
          <a:ln w="9525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2440" y="4773168"/>
            <a:ext cx="3273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harder variable-key dataset, the ResNet needs under half the traces the CNN does — the paper's qualitative finding, reproduced.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3 - EXTENSIONS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threads, stress-testing the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7" name="Image 0" descr="C:\Users\aaary\AppData\Local\Temp\claude\D--Projects-AES-Key-Recovery\b4e7210e-b2e3-49c0-a350-0e4db220f41f\scratchpad\ppt\assets\icons\bol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52" y="219593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 baseline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308152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138, no recovery — confirms only CNN/ResNet exploit the leakage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13055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14" name="Image 1" descr="C:\Users\aaary\AppData\Local\Temp\claude\D--Projects-AES-Key-Recovery\b4e7210e-b2e3-49c0-a350-0e4db220f41f\scratchpad\ppt\assets\icons\warning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12" y="2195932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943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Multi-byte attempt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99432" y="308152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3-4 stuck at chance — data-limited, not a modeling failure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8160" y="187452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187452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Shape 16"/>
          <p:cNvSpPr/>
          <p:nvPr/>
        </p:nvSpPr>
        <p:spPr>
          <a:xfrm>
            <a:off x="8394192" y="213055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21" name="Image 2" descr="C:\Users\aaary\AppData\Local\Temp\claude\D--Projects-AES-Key-Recovery\b4e7210e-b2e3-49c0-a350-0e4db220f41f\scratchpad\ppt\assets\icons\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72" y="2195932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9419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Multi-task ResNet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94192" y="308152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fewer traces on fixed-key (270 vs 868) via auxiliary mask heads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Shape 22"/>
          <p:cNvSpPr/>
          <p:nvPr/>
        </p:nvSpPr>
        <p:spPr>
          <a:xfrm>
            <a:off x="804672" y="427939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28" name="Image 3" descr="C:\Users\aaary\AppData\Local\Temp\claude\D--Projects-AES-Key-Recovery\b4e7210e-b2e3-49c0-a350-0e4db220f41f\scratchpad\ppt\assets\icons\chip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52" y="4344772"/>
            <a:ext cx="372161" cy="3721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56616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04672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Desync robustness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04672" y="52303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collapses under jitter; ResNet still recovers the key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34340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4340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28"/>
          <p:cNvSpPr/>
          <p:nvPr/>
        </p:nvSpPr>
        <p:spPr>
          <a:xfrm>
            <a:off x="4599432" y="427939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35" name="Image 4" descr="C:\Users\aaary\AppData\Local\Temp\claude\D--Projects-AES-Key-Recovery\b4e7210e-b2e3-49c0-a350-0e4db220f41f\scratchpad\ppt\assets\icons\char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812" y="4344772"/>
            <a:ext cx="372161" cy="37216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6092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4599432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variance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99432" y="52303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vs 1,540 traces across 2 seeds — single-run results can mislead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138160" y="4023360"/>
            <a:ext cx="3566160" cy="1874520"/>
          </a:xfrm>
          <a:prstGeom prst="rect">
            <a:avLst/>
          </a:prstGeom>
          <a:solidFill>
            <a:srgbClr val="11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38160" y="4023360"/>
            <a:ext cx="54864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1" name="Shape 34"/>
          <p:cNvSpPr/>
          <p:nvPr/>
        </p:nvSpPr>
        <p:spPr>
          <a:xfrm>
            <a:off x="8394192" y="4279392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42" name="Image 5" descr="C:\Users\aaary\AppData\Local\Temp\claude\D--Projects-AES-Key-Recovery\b4e7210e-b2e3-49c0-a350-0e4db220f41f\scratchpad\ppt\assets\icons\check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572" y="4344772"/>
            <a:ext cx="372161" cy="37216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115568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8394192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Shuffled-label control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394192" y="52303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exact chance (0.388%) — no label-artifact shortcut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3C - MULTI-TASK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Auxiliary heads break the training plateau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aaary\AppData\Local\Temp\claude\D--Projects-AES-Key-Recovery\b4e7210e-b2e3-49c0-a350-0e4db220f41f\scratchpad\ppt\assets\milestone3_fixedkey_multit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65836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3822192" cy="22860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1828800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traces to recover the key, fixed-key set (270 vs. 868 for single-task ResNet)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8221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0" y="438912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1" name="Image 1" descr="C:\Users\aaary\AppData\Local\Temp\claude\D--Projects-AES-Key-Recovery\b4e7210e-b2e3-49c0-a350-0e4db220f41f\scratchpad\ppt\assets\icons\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44485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1080" y="4389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not a free lunch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046720" y="4846320"/>
            <a:ext cx="3364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harder variable-key set, the auxiliary heads add noise instead of signal: 3,374 traces vs. 276 for the plain ResNet — worse, not better.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3D - ROBUSTNESS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Misalignment breaks the CNN, not the ResNet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aaary\AppData\Local\Temp\claude\D--Projects-AES-Key-Recovery\b4e7210e-b2e3-49c0-a350-0e4db220f41f\scratchpad\ppt\assets\milestone3_desy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65836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3822192" cy="4663440"/>
          </a:xfrm>
          <a:prstGeom prst="rect">
            <a:avLst/>
          </a:prstGeom>
          <a:solidFill>
            <a:srgbClr val="0A0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192024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 TO RANK 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46888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0684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93224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desync50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7960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desync100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297180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00684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793224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579608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2440" y="347472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0068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793224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579608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92440" y="4069080"/>
            <a:ext cx="3273552" cy="0"/>
          </a:xfrm>
          <a:prstGeom prst="line">
            <a:avLst/>
          </a:prstGeom>
          <a:noFill/>
          <a:ln w="9525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4251960"/>
            <a:ext cx="3273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 CNN has zero shift tolerance — any tested jitter drops it to chance. The ResNet still recovers the key at both jitter levels, with only a modest trace penalty.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recovered byte,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aaary\AppData\Local\Temp\claude\D--Projects-AES-Key-Recovery\b4e7210e-b2e3-49c0-a350-0e4db220f41f\scratchpad\ppt\assets\recovered_k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965960"/>
            <a:ext cx="10543032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577840"/>
            <a:ext cx="11091672" cy="8229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5778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key:  </a:t>
            </a:r>
            <a:pPr indent="0" marL="0">
              <a:buNone/>
            </a:pPr>
            <a:r>
              <a:rPr lang="en-US" sz="13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4d fb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pPr indent="0" marL="0">
              <a:buNone/>
            </a:pPr>
            <a:r>
              <a:rPr lang="en-US" sz="13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f2 72 21 fe 10 a7 8d 4a dc 8e 49 04 69</a:t>
            </a:r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byte #2 recovered correctly, ~1,360 traces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NOTES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this replication departs from the paper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" cy="1051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byte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1783080"/>
            <a:ext cx="7982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2 (community standard — ASCAD masks only bytes 2-15)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91672" cy="105156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71800"/>
            <a:ext cx="54864" cy="1051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2971800"/>
            <a:ext cx="7982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~17k-param net (Zaid et al.), not the 60M-param VGG head — the VGG memorizes and never ranks the key here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60520"/>
            <a:ext cx="54864" cy="1051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4160520"/>
            <a:ext cx="7982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chosen by validation Guessing Entropy, not validation loss — CE loss is flat/rising for ~20 epochs while the attack is already improving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349240"/>
            <a:ext cx="54864" cy="1051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349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Full-key recovery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5349240"/>
            <a:ext cx="7982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the extracted .h5 is a trace window around byte 2 only; bytes 3-15 need the ~60GB raw capture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project shows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5" name="Image 0" descr="C:\Users\aaary\AppData\Local\Temp\claude\D--Projects-AES-Key-Recovery\b4e7210e-b2e3-49c0-a350-0e4db220f41f\scratchpad\ppt\assets\icons\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9399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288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per-trace statistical bias, invisible to top-1 accuracy, is enough for a neural net to fully recover a real AES key byte.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8" name="Image 1" descr="C:\Users\aaary\AppData\Local\Temp\claude\D--Projects-AES-Key-Recovery\b4e7210e-b2e3-49c0-a350-0e4db220f41f\scratchpad\ppt\assets\icons\lay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03718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9260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matters more than the paper's framing suggests: the ResNet beats the compact CNN specifically where alignment is imperfect.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11" name="Image 2" descr="C:\Users\aaary\AppData\Local\Temp\claude\D--Projects-AES-Key-Recovery\b4e7210e-b2e3-49c0-a350-0e4db220f41f\scratchpad\ppt\assets\icons\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13446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0233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auxiliary losses can break the masked-SCA training plateau 3x faster — but only help on the dataset they were tuned for.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162238"/>
          </a:solidFill>
          <a:ln/>
        </p:spPr>
      </p:sp>
      <p:pic>
        <p:nvPicPr>
          <p:cNvPr id="14" name="Image 3" descr="C:\Users\aaary\AppData\Local\Temp\claude\D--Projects-AES-Key-Recovery\b4e7210e-b2e3-49c0-a350-0e4db220f41f\scratchpad\ppt\assets\icons\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523174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51206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shuffled-label control confirms the whole pipeline is exploiting real leakage, not a label-distribution artifact.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554480"/>
            <a:ext cx="1097280" cy="1097280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3" name="Image 0" descr="C:\Users\aaary\AppData\Local\Temp\claude\D--Projects-AES-Key-Recovery\b4e7210e-b2e3-49c0-a350-0e4db220f41f\scratchpad\ppt\assets\icons\key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482" y="1697126"/>
            <a:ext cx="811987" cy="81198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45836" y="1554480"/>
            <a:ext cx="1097280" cy="109728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— code, report, and results at the project repository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src.demo   ·   README.md   ·   report/ASCAD_replication_report.pdf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 Key Recovery via Side-Channel Analysis</dc:title>
  <dc:subject>PptxGenJS Presentation</dc:subject>
  <dc:creator>Aaryan</dc:creator>
  <cp:lastModifiedBy>Aaryan</cp:lastModifiedBy>
  <cp:revision>1</cp:revision>
  <dcterms:created xsi:type="dcterms:W3CDTF">2026-09-12T03:08:25Z</dcterms:created>
  <dcterms:modified xsi:type="dcterms:W3CDTF">2026-09-12T03:08:25Z</dcterms:modified>
</cp:coreProperties>
</file>